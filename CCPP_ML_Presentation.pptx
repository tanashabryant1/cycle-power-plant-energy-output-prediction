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explaining that the goal is to use power plant sensor data to predict electrical energy output. Mention that the target is a continuous number measured in megawatts, so this is regression.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that this is supervised regression because the target PE is numeric. Explain that RMSE is the primary metric because it gives error in megawatts and penalizes larger misses.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data: 9,568 rows, four environmental predictors, and one numeric target. Mention that no missing values were found.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test set was held back until the final evaluation. Cross-validation was used only on the training data to choose the best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Linear Regression as the baseline and Random Forest as the final model. The Random Forest was selected because it produced the lowest validation RMSE.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main evaluation slide. RMSE is the primary metric. R-squared of 0.963 shows strong predictive performance on unseen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diagnostics build trust in the model. Residuals show prediction errors, and feature importance helps communicate which variables mattered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by restating the final model, why it was selected, and the final metrics. This slide can also serve as speaker notes for recording the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188720"/>
            <a:ext cx="67665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C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Predicting Power Output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04672" y="1920240"/>
            <a:ext cx="64922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84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Cycle Power Plant Machine Learning Project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" y="2587752"/>
            <a:ext cx="60350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environmental sensor readings to predict net hourly electrical energy output (PE).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1965960" cy="310896"/>
          </a:xfrm>
          <a:prstGeom prst="rect">
            <a:avLst/>
          </a:prstGeom>
          <a:solidFill>
            <a:srgbClr val="BFEED7"/>
          </a:solidFill>
          <a:ln w="12700">
            <a:solidFill>
              <a:srgbClr val="BFEED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Regression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108960" y="3429000"/>
            <a:ext cx="2148840" cy="310896"/>
          </a:xfrm>
          <a:prstGeom prst="rect">
            <a:avLst/>
          </a:prstGeom>
          <a:solidFill>
            <a:srgbClr val="FFD6E9"/>
          </a:solidFill>
          <a:ln w="12700">
            <a:solidFill>
              <a:srgbClr val="FFD6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Final Model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577840" y="3429000"/>
            <a:ext cx="1737360" cy="310896"/>
          </a:xfrm>
          <a:prstGeom prst="rect">
            <a:avLst/>
          </a:prstGeom>
          <a:solidFill>
            <a:srgbClr val="C7A4FF"/>
          </a:solidFill>
          <a:ln w="12700">
            <a:solidFill>
              <a:srgbClr val="C7A4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/ MAE / R²</a:t>
            </a:r>
            <a:endParaRPr lang="en-US" sz="1050" dirty="0"/>
          </a:p>
        </p:txBody>
      </p:sp>
      <p:pic>
        <p:nvPicPr>
          <p:cNvPr id="8" name="Image 0" descr="/mnt/data/05_actual_vs_predicted_r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798633"/>
            <a:ext cx="3886200" cy="28949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09560" y="5486400"/>
            <a:ext cx="2926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model snapshot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92640" y="6473952"/>
            <a:ext cx="1783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CCPP ML Project  •  1</a:t>
            </a:r>
            <a:endParaRPr lang="en-US" sz="8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90525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Problem &amp; modeling approach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9144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kind of machine learning problem are we solving?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85216" y="1197864"/>
            <a:ext cx="2103120" cy="0"/>
          </a:xfrm>
          <a:prstGeom prst="line">
            <a:avLst/>
          </a:prstGeom>
          <a:noFill/>
          <a:ln w="31750">
            <a:solidFill>
              <a:srgbClr val="E84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17904"/>
            <a:ext cx="11887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84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13232" y="1975104"/>
            <a:ext cx="406908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net hourly electrical energy output from ambient power plant conditions.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852928"/>
            <a:ext cx="1645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84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Approach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3291840"/>
            <a:ext cx="41605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regression, because the model predicts a continuous numeric target: PE in megawatts.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0" y="1572768"/>
            <a:ext cx="40233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6BCD8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C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inputs → prediction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989320" y="2514600"/>
            <a:ext cx="43891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7B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 +  V  +  AP  +  RH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263640" y="3090672"/>
            <a:ext cx="3794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 readings from plant sensors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635240" y="3611880"/>
            <a:ext cx="777240" cy="594360"/>
          </a:xfrm>
          <a:prstGeom prst="downArrow">
            <a:avLst/>
          </a:prstGeom>
          <a:solidFill>
            <a:srgbClr val="FFD6E9"/>
          </a:solidFill>
          <a:ln w="12700">
            <a:solidFill>
              <a:srgbClr val="FFD6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4407408"/>
            <a:ext cx="18288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4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537960" y="4901184"/>
            <a:ext cx="3337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net electrical output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" y="4800600"/>
            <a:ext cx="164592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F6BCD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4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RMSE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84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 metric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697480" y="4800600"/>
            <a:ext cx="164592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F6BCD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4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84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 metric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53712" y="4800600"/>
            <a:ext cx="150876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F6BCD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4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84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Fit quality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692640" y="6473952"/>
            <a:ext cx="1783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CCPP ML Project  •  2</a:t>
            </a:r>
            <a:endParaRPr lang="en-US" sz="8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90525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Data understanding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9144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 is clean and ready for model training.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85216" y="1197864"/>
            <a:ext cx="2103120" cy="0"/>
          </a:xfrm>
          <a:prstGeom prst="line">
            <a:avLst/>
          </a:prstGeom>
          <a:noFill/>
          <a:ln w="31750">
            <a:solidFill>
              <a:srgbClr val="E84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08760"/>
            <a:ext cx="187452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F6BCD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4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9,568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84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Hourly observations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852928" y="1508760"/>
            <a:ext cx="187452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F6BCD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4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84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values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800600" y="1508760"/>
            <a:ext cx="16916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F6BCD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4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84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Predictor features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40233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6BCD8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used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 Ambient Temperature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   Exhaust Vacuum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  Ambient Pressure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  Relative Humidity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  Target: power output</a:t>
            </a:r>
            <a:endParaRPr lang="en-US" sz="1500" dirty="0"/>
          </a:p>
        </p:txBody>
      </p:sp>
      <p:pic>
        <p:nvPicPr>
          <p:cNvPr id="9" name="Image 0" descr="/mnt/data/01_distribution_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751063"/>
            <a:ext cx="2240280" cy="1481354"/>
          </a:xfrm>
          <a:prstGeom prst="rect">
            <a:avLst/>
          </a:prstGeom>
        </p:spPr>
      </p:pic>
      <p:pic>
        <p:nvPicPr>
          <p:cNvPr id="10" name="Image 1" descr="/mnt/data/02_at_vs_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751063"/>
            <a:ext cx="2240280" cy="1481354"/>
          </a:xfrm>
          <a:prstGeom prst="rect">
            <a:avLst/>
          </a:prstGeom>
        </p:spPr>
      </p:pic>
      <p:pic>
        <p:nvPicPr>
          <p:cNvPr id="11" name="Image 2" descr="/mnt/data/03_correlation_matri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0806" y="3959352"/>
            <a:ext cx="2409188" cy="18745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92640" y="6473952"/>
            <a:ext cx="1783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CCPP ML Project  •  3</a:t>
            </a:r>
            <a:endParaRPr lang="en-US" sz="8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90525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Modeling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9144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model was trained and validated.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85216" y="1197864"/>
            <a:ext cx="2103120" cy="0"/>
          </a:xfrm>
          <a:prstGeom prst="line">
            <a:avLst/>
          </a:prstGeom>
          <a:noFill/>
          <a:ln w="31750">
            <a:solidFill>
              <a:srgbClr val="E84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64208"/>
            <a:ext cx="16916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6BCD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C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Split data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C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80% training / 20% test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441448" y="2359152"/>
            <a:ext cx="310896" cy="384048"/>
          </a:xfrm>
          <a:prstGeom prst="chevron">
            <a:avLst/>
          </a:prstGeom>
          <a:solidFill>
            <a:srgbClr val="C7A4FF"/>
          </a:solidFill>
          <a:ln w="12700">
            <a:solidFill>
              <a:srgbClr val="C7A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44368" y="1664208"/>
            <a:ext cx="1691640" cy="1965960"/>
          </a:xfrm>
          <a:prstGeom prst="rect">
            <a:avLst/>
          </a:prstGeom>
          <a:solidFill>
            <a:srgbClr val="FFF0F8"/>
          </a:solidFill>
          <a:ln w="12700">
            <a:solidFill>
              <a:srgbClr val="F6BCD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C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C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5-fold cross-validation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27448" y="2359152"/>
            <a:ext cx="310896" cy="384048"/>
          </a:xfrm>
          <a:prstGeom prst="chevron">
            <a:avLst/>
          </a:prstGeom>
          <a:solidFill>
            <a:srgbClr val="C7A4FF"/>
          </a:solidFill>
          <a:ln w="12700">
            <a:solidFill>
              <a:srgbClr val="C7A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30368" y="1664208"/>
            <a:ext cx="16916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6BCD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C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C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Regression vs Random Forest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013448" y="2359152"/>
            <a:ext cx="310896" cy="384048"/>
          </a:xfrm>
          <a:prstGeom prst="chevron">
            <a:avLst/>
          </a:prstGeom>
          <a:solidFill>
            <a:srgbClr val="C7A4FF"/>
          </a:solidFill>
          <a:ln w="12700">
            <a:solidFill>
              <a:srgbClr val="C7A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16368" y="1664208"/>
            <a:ext cx="1691640" cy="1965960"/>
          </a:xfrm>
          <a:prstGeom prst="rect">
            <a:avLst/>
          </a:prstGeom>
          <a:solidFill>
            <a:srgbClr val="FFF0F8"/>
          </a:solidFill>
          <a:ln w="12700">
            <a:solidFill>
              <a:srgbClr val="F6BCD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C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C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Lowest validation RMSE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299448" y="2359152"/>
            <a:ext cx="310896" cy="384048"/>
          </a:xfrm>
          <a:prstGeom prst="chevron">
            <a:avLst/>
          </a:prstGeom>
          <a:solidFill>
            <a:srgbClr val="C7A4FF"/>
          </a:solidFill>
          <a:ln w="12700">
            <a:solidFill>
              <a:srgbClr val="C7A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02368" y="1664208"/>
            <a:ext cx="16916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6BCD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C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once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C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Evaluate final model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05840" y="4407408"/>
            <a:ext cx="100584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4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model setup in Python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4828032"/>
            <a:ext cx="10058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6BCD8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df[["AT", "V", "AP", "RH"]]      y = df["PE"]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train_test_split(..., test_size=0.20, random_state=42)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LinearRegression()      RandomForestRegressor(n_estimators=100, random_state=42)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92640" y="6473952"/>
            <a:ext cx="1783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CCPP ML Project  •  4</a:t>
            </a:r>
            <a:endParaRPr lang="en-US" sz="8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90525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Model comparison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9144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had the lowest validation error.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85216" y="1197864"/>
            <a:ext cx="2103120" cy="0"/>
          </a:xfrm>
          <a:prstGeom prst="line">
            <a:avLst/>
          </a:prstGeom>
          <a:noFill/>
          <a:ln w="31750">
            <a:solidFill>
              <a:srgbClr val="E84293"/>
            </a:solidFill>
            <a:prstDash val="solid"/>
          </a:ln>
        </p:spPr>
      </p:sp>
      <p:pic>
        <p:nvPicPr>
          <p:cNvPr id="5" name="Image 0" descr="/mnt/data/04_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1688"/>
            <a:ext cx="4663440" cy="34769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89320" y="1572768"/>
            <a:ext cx="4114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C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Cross-validation results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989320" y="2176272"/>
            <a:ext cx="2148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6BCD8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RMSE: 4.5738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RMSE: 4.5026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R²: 0.9301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13648" y="2176272"/>
            <a:ext cx="2148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6BCD8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RMSE: 3.4768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RMSE: 3.2691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R²: 0.9632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989320" y="4023360"/>
            <a:ext cx="43891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84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Decision: select Random Forest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016752" y="4498848"/>
            <a:ext cx="42062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reduced validation RMSE by about 1.10 MW compared with the linear baseline.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692640" y="6473952"/>
            <a:ext cx="1783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CCPP ML Project  •  5</a:t>
            </a:r>
            <a:endParaRPr lang="en-US" sz="8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90525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Final model performance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9144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on the untouched test set.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85216" y="1197864"/>
            <a:ext cx="2103120" cy="0"/>
          </a:xfrm>
          <a:prstGeom prst="line">
            <a:avLst/>
          </a:prstGeom>
          <a:noFill/>
          <a:ln w="31750">
            <a:solidFill>
              <a:srgbClr val="E84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20574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6BCD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4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3.27 MW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84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RMSE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063240" y="1481328"/>
            <a:ext cx="20574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6BCD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4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2.35 MW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84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MAE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349240" y="1481328"/>
            <a:ext cx="20574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6BCD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4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0.963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84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R²</a:t>
            </a:r>
            <a:endParaRPr lang="en-US" sz="1700" dirty="0"/>
          </a:p>
        </p:txBody>
      </p:sp>
      <p:pic>
        <p:nvPicPr>
          <p:cNvPr id="8" name="Image 0" descr="/mnt/data/05_actual_vs_predicted_r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8012" y="2788920"/>
            <a:ext cx="4173455" cy="3108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40880" y="2971800"/>
            <a:ext cx="397764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6BCD8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explains about 96.3% of the variation in electrical output. Predictions are typically within a few megawatts of the actual value.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692640" y="6473952"/>
            <a:ext cx="1783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CCPP ML Project  •  6</a:t>
            </a:r>
            <a:endParaRPr lang="en-US" sz="8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90525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Model diagnostics &amp; explanation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9144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errors and understanding which inputs mattered most.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85216" y="1197864"/>
            <a:ext cx="2103120" cy="0"/>
          </a:xfrm>
          <a:prstGeom prst="line">
            <a:avLst/>
          </a:prstGeom>
          <a:noFill/>
          <a:ln w="31750">
            <a:solidFill>
              <a:srgbClr val="E84293"/>
            </a:solidFill>
            <a:prstDash val="solid"/>
          </a:ln>
        </p:spPr>
      </p:sp>
      <p:pic>
        <p:nvPicPr>
          <p:cNvPr id="5" name="Image 0" descr="/mnt/data/06_residual_plot_r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57162"/>
            <a:ext cx="4892040" cy="3644260"/>
          </a:xfrm>
          <a:prstGeom prst="rect">
            <a:avLst/>
          </a:prstGeom>
        </p:spPr>
      </p:pic>
      <p:pic>
        <p:nvPicPr>
          <p:cNvPr id="6" name="Image 1" descr="/mnt/data/07_feature_importance_r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57162"/>
            <a:ext cx="4892040" cy="36442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5669280"/>
            <a:ext cx="45262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6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Residuals show whether prediction errors are scattered around zero.</a:t>
            </a:r>
            <a:endParaRPr lang="en-US" sz="1220" dirty="0"/>
          </a:p>
        </p:txBody>
      </p:sp>
      <p:sp>
        <p:nvSpPr>
          <p:cNvPr id="8" name="Text 4"/>
          <p:cNvSpPr/>
          <p:nvPr/>
        </p:nvSpPr>
        <p:spPr>
          <a:xfrm>
            <a:off x="6400800" y="5669280"/>
            <a:ext cx="46634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6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 shows which sensor readings influenced predictions most.</a:t>
            </a:r>
            <a:endParaRPr lang="en-US" sz="1220" dirty="0"/>
          </a:p>
        </p:txBody>
      </p:sp>
      <p:sp>
        <p:nvSpPr>
          <p:cNvPr id="9" name="Text 5"/>
          <p:cNvSpPr/>
          <p:nvPr/>
        </p:nvSpPr>
        <p:spPr>
          <a:xfrm>
            <a:off x="9692640" y="6473952"/>
            <a:ext cx="1783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CCPP ML Project  •  7</a:t>
            </a:r>
            <a:endParaRPr lang="en-US" sz="8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90525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 Video close: final takeaway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9144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concise conclusion for the 5-minute presentation.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85216" y="1197864"/>
            <a:ext cx="2103120" cy="0"/>
          </a:xfrm>
          <a:prstGeom prst="line">
            <a:avLst/>
          </a:prstGeom>
          <a:noFill/>
          <a:ln w="31750">
            <a:solidFill>
              <a:srgbClr val="E84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91640"/>
            <a:ext cx="38404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84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closing script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2267712"/>
            <a:ext cx="101498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6BCD8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selected Random Forest Regression as my final model because it produced the lowest cross-validation RMSE. After testing it on the untouched test set, the model achieved an RMSE of about 3.27 MW, an MAE of about 2.35 MW, and an R² of 0.963. This means the model predicts combined cycle power plant output with strong accuracy using only four environmental sensor readings.”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4462272"/>
            <a:ext cx="29260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show in the demo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4892040"/>
            <a:ext cx="93268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 → actual vs. predicted chart → final metrics → feature importance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92640" y="6473952"/>
            <a:ext cx="1783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6B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CCPP ML Project  •  8</a:t>
            </a:r>
            <a:endParaRPr lang="en-US" sz="8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Power Output with Machine Learning</dc:title>
  <dc:subject>Combined Cycle Power Plant Machine Learning Presentation</dc:subject>
  <dc:creator>OpenAI</dc:creator>
  <cp:lastModifiedBy>OpenAI</cp:lastModifiedBy>
  <cp:revision>1</cp:revision>
  <dcterms:created xsi:type="dcterms:W3CDTF">2026-10-07T20:22:25Z</dcterms:created>
  <dcterms:modified xsi:type="dcterms:W3CDTF">2026-10-07T20:22:25Z</dcterms:modified>
</cp:coreProperties>
</file>